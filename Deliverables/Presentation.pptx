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3" r:id="rId3"/>
    <p:sldId id="264" r:id="rId4"/>
    <p:sldId id="271" r:id="rId5"/>
    <p:sldId id="265" r:id="rId6"/>
    <p:sldId id="266" r:id="rId7"/>
    <p:sldId id="267" r:id="rId8"/>
    <p:sldId id="268" r:id="rId9"/>
    <p:sldId id="269" r:id="rId10"/>
    <p:sldId id="270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3" autoAdjust="0"/>
    <p:restoredTop sz="94660"/>
  </p:normalViewPr>
  <p:slideViewPr>
    <p:cSldViewPr snapToGrid="0">
      <p:cViewPr>
        <p:scale>
          <a:sx n="85" d="100"/>
          <a:sy n="85" d="100"/>
        </p:scale>
        <p:origin x="595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30E1B7-0BCB-85A0-C880-3B3F7DB8EA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3F7B95-8792-D035-169E-7AD2E334AB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80E5C9-7576-36C8-1E94-AFF02C7B61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39DF6-4749-4948-9BF9-E103D4D35688}" type="datetimeFigureOut">
              <a:rPr lang="en-US" smtClean="0"/>
              <a:t>7/7/2025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772784-6EB9-8ADC-11FF-620B9C85D2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4C01E3-327A-A07E-36A1-1154E46FB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19865-74B1-4FE5-9353-738D3884AA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4646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361806-C46A-04E6-882D-D9E2379792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BD64AF-96D7-5B3D-6F38-8DF3A50687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C79D87-DC4B-E07E-76E4-17411E8DB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39DF6-4749-4948-9BF9-E103D4D35688}" type="datetimeFigureOut">
              <a:rPr lang="en-US" smtClean="0"/>
              <a:t>7/7/2025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1AFF54-F860-726A-93B0-5724DEFB31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3CE522-91A4-77D4-7324-C76D639CE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19865-74B1-4FE5-9353-738D3884AA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5158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A871C5-093D-84D7-9319-6B65897055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44B691-0284-BE0C-3D80-437E7D0BF4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D862CF-CAA9-6854-A799-8CDA2C3E36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39DF6-4749-4948-9BF9-E103D4D35688}" type="datetimeFigureOut">
              <a:rPr lang="en-US" smtClean="0"/>
              <a:t>7/7/2025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56D314-2552-4063-ADBC-455C415155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AAA8FD-5C52-5210-96A0-F8F5897C3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19865-74B1-4FE5-9353-738D3884AA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2750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AC001-9C68-70A4-DEB9-CF4C89642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BEC9D1-E1DF-CD4E-7C84-3B07963A9D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45A515-131C-E113-AEE4-2A8E3533FA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F3B6DF-D3C8-5F8A-1FDB-5B805938B6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39DF6-4749-4948-9BF9-E103D4D35688}" type="datetimeFigureOut">
              <a:rPr lang="en-US" smtClean="0"/>
              <a:t>7/7/2025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E63987-FC75-91F8-D73D-D88BEB949E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31D776-374A-0425-8F61-038D6C2588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19865-74B1-4FE5-9353-738D3884AA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2267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6A518D-4820-8001-2961-7CD54B15D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7CA0BD-0959-35A3-8738-252A6C1771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1D47F0-EC2D-59AA-99EA-B986AEB068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D21A507-566E-E4E8-460B-418D419A76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13FAF4E-4E4F-36AE-D440-D82D9BB8D1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D29FC61-5A32-B969-A0E7-73885C3BEA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39DF6-4749-4948-9BF9-E103D4D35688}" type="datetimeFigureOut">
              <a:rPr lang="en-US" smtClean="0"/>
              <a:t>7/7/2025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8D9DE5A-A55C-6CFE-91A6-F811F224BC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48BBA4-21CA-CF4B-D31B-70B6BBDDD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19865-74B1-4FE5-9353-738D3884AA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2897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02225-9AE2-0FC4-B0FF-AFD78A6824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2CBBB7-495E-78DC-7328-D57EC25A79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39DF6-4749-4948-9BF9-E103D4D35688}" type="datetimeFigureOut">
              <a:rPr lang="en-US" smtClean="0"/>
              <a:t>7/7/2025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F6D7DE-A92A-65EC-9D31-637E1EFA0C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A68257-90B5-334F-2388-F5CEC4ACD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19865-74B1-4FE5-9353-738D3884AA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6197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2A525F4-F249-A9A0-ADDA-20C0A751DF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39DF6-4749-4948-9BF9-E103D4D35688}" type="datetimeFigureOut">
              <a:rPr lang="en-US" smtClean="0"/>
              <a:t>7/7/2025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BB49D2F-8CD5-7505-393C-13A6F1BCE7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928D1E-C96A-E769-9149-15EBB92505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19865-74B1-4FE5-9353-738D3884AA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50548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AD4286-15FA-0A65-F7B0-084AA381C2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44BF53-6C58-7289-0CC6-8EECB7F41A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D713B3-FD67-D32A-2FBC-566B2EEE70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2824DC-DE99-4732-A87D-EC1E574D0A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39DF6-4749-4948-9BF9-E103D4D35688}" type="datetimeFigureOut">
              <a:rPr lang="en-US" smtClean="0"/>
              <a:t>7/7/2025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0F177B-18B1-2003-ACC5-0A74CFF60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292E67-86A3-1B71-4793-79696072E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19865-74B1-4FE5-9353-738D3884AA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4529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7C275-D9F3-2FD6-C063-B85F10083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3B40453-F1CF-742B-A6A1-7DC7873D10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E1C0CF-ED61-FB16-ED65-DBE609BF8E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57B4F4-15B7-CAD6-87E2-8611D53CEE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39DF6-4749-4948-9BF9-E103D4D35688}" type="datetimeFigureOut">
              <a:rPr lang="en-US" smtClean="0"/>
              <a:t>7/7/2025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E51676-9257-AF75-C415-04736D8740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776B24-21B0-B083-DD42-E324C6552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19865-74B1-4FE5-9353-738D3884AA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3048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1E5CF-7D08-EFC2-3E76-FFDA549072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3B8BF6-6764-0235-89BB-AA4A456F15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27ECA5-4521-ABC7-CFCC-BDD2843D17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39DF6-4749-4948-9BF9-E103D4D35688}" type="datetimeFigureOut">
              <a:rPr lang="en-US" smtClean="0"/>
              <a:t>7/7/2025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A2643C-7418-D409-D7A5-D2DBD90C8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BBD0B0-2584-4705-1C1C-60D941E86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19865-74B1-4FE5-9353-738D3884AA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27291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A187955-660C-380C-F879-5BB0547136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02FC56-DC4F-9154-9066-37BF24764A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B8B8E2-1443-79BA-75F0-40A0919C51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39DF6-4749-4948-9BF9-E103D4D35688}" type="datetimeFigureOut">
              <a:rPr lang="en-US" smtClean="0"/>
              <a:t>7/7/2025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62DC2F-BE48-0937-E436-F4DDFCBC80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B46C54-A821-B098-FC99-17A4EE9C70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19865-74B1-4FE5-9353-738D3884AA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5912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AADF17-9A31-B752-F4DC-8A98EF300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576EE8-9C57-2F1B-AAC5-67BDCDC05E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5501CC-8565-EACF-7EEA-75B2B7C63C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D39DF6-4749-4948-9BF9-E103D4D35688}" type="datetimeFigureOut">
              <a:rPr lang="en-US" smtClean="0"/>
              <a:t>7/7/2025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84DDAC-A7AF-3FF6-2AA7-14A8395788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DF273C-06E9-2C3C-105D-C230AE4738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A419865-74B1-4FE5-9353-738D3884AA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033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www.wmata.com/initiatives/ridership-portal/Metrorail-Ridership-Summary.cfm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07323B6-CA69-60E9-114B-4DAC7A9CAF38}"/>
              </a:ext>
            </a:extLst>
          </p:cNvPr>
          <p:cNvSpPr/>
          <p:nvPr/>
        </p:nvSpPr>
        <p:spPr>
          <a:xfrm>
            <a:off x="707727" y="209862"/>
            <a:ext cx="10666618" cy="161811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0035D9A-D89D-5180-1295-63B2758F5672}"/>
              </a:ext>
            </a:extLst>
          </p:cNvPr>
          <p:cNvSpPr txBox="1"/>
          <p:nvPr/>
        </p:nvSpPr>
        <p:spPr>
          <a:xfrm>
            <a:off x="1259666" y="603420"/>
            <a:ext cx="95627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chemeClr val="bg1"/>
                </a:solidFill>
              </a:rPr>
              <a:t>WMATA RIDERSHIP DATA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F89B5F2-9677-DB34-D198-5011F7C65B87}"/>
              </a:ext>
            </a:extLst>
          </p:cNvPr>
          <p:cNvSpPr txBox="1"/>
          <p:nvPr/>
        </p:nvSpPr>
        <p:spPr>
          <a:xfrm>
            <a:off x="897736" y="1886673"/>
            <a:ext cx="1017414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hlinkClick r:id="rId2"/>
              </a:rPr>
              <a:t>Metrorail Ridership Summary | WMATA</a:t>
            </a:r>
            <a:endParaRPr lang="en-US" dirty="0"/>
          </a:p>
          <a:p>
            <a:pPr algn="ctr"/>
            <a:r>
              <a:rPr lang="en-US" dirty="0"/>
              <a:t>2 GB</a:t>
            </a:r>
          </a:p>
          <a:p>
            <a:pPr algn="ctr"/>
            <a:r>
              <a:rPr lang="en-US" dirty="0"/>
              <a:t>1,000,000+ Rows 13 features</a:t>
            </a:r>
          </a:p>
          <a:p>
            <a:pPr algn="ctr"/>
            <a:r>
              <a:rPr lang="en-US" dirty="0"/>
              <a:t>Jan 2012- Jun 2025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pic>
        <p:nvPicPr>
          <p:cNvPr id="1028" name="Picture 4" descr="Pink Cherry Blossom Flower - Free Clip Art">
            <a:extLst>
              <a:ext uri="{FF2B5EF4-FFF2-40B4-BE49-F238E27FC236}">
                <a16:creationId xmlns:a16="http://schemas.microsoft.com/office/drawing/2014/main" id="{3C8425A5-090C-6ADC-8044-0A0632F3FC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370249"/>
            <a:ext cx="2104547" cy="14877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3d model wmata 7000 metro train">
            <a:extLst>
              <a:ext uri="{FF2B5EF4-FFF2-40B4-BE49-F238E27FC236}">
                <a16:creationId xmlns:a16="http://schemas.microsoft.com/office/drawing/2014/main" id="{5EDFD980-4B48-CA2C-EE3A-2BAE9DFCDA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46785" y="5447364"/>
            <a:ext cx="2465439" cy="1333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WMATA Logo">
            <a:extLst>
              <a:ext uri="{FF2B5EF4-FFF2-40B4-BE49-F238E27FC236}">
                <a16:creationId xmlns:a16="http://schemas.microsoft.com/office/drawing/2014/main" id="{E3A03F52-0C77-EE2A-1CFC-2E19E5CC0A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0705" y="307264"/>
            <a:ext cx="1077556" cy="13788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32DF4EC-3537-975D-9E6F-FEDF0032A6C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70721" y="3223838"/>
            <a:ext cx="9740630" cy="2086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29288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3FF827-ACDC-61AA-2693-B1C72296AB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DF6A97C-AE06-4120-6F84-123ECFDFC868}"/>
              </a:ext>
            </a:extLst>
          </p:cNvPr>
          <p:cNvSpPr/>
          <p:nvPr/>
        </p:nvSpPr>
        <p:spPr>
          <a:xfrm>
            <a:off x="-51030" y="1"/>
            <a:ext cx="12243030" cy="998706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63CCD88-E380-B400-CACF-C85074E4894B}"/>
              </a:ext>
            </a:extLst>
          </p:cNvPr>
          <p:cNvSpPr txBox="1"/>
          <p:nvPr/>
        </p:nvSpPr>
        <p:spPr>
          <a:xfrm>
            <a:off x="-951755" y="83855"/>
            <a:ext cx="95627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chemeClr val="bg1"/>
                </a:solidFill>
              </a:rPr>
              <a:t>Line Plot over Time</a:t>
            </a:r>
          </a:p>
        </p:txBody>
      </p:sp>
      <p:pic>
        <p:nvPicPr>
          <p:cNvPr id="1028" name="Picture 4" descr="Pink Cherry Blossom Flower - Free Clip Art">
            <a:extLst>
              <a:ext uri="{FF2B5EF4-FFF2-40B4-BE49-F238E27FC236}">
                <a16:creationId xmlns:a16="http://schemas.microsoft.com/office/drawing/2014/main" id="{79B858B2-E461-931D-D978-968B82E9B4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370249"/>
            <a:ext cx="2104547" cy="14877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3d model wmata 7000 metro train">
            <a:extLst>
              <a:ext uri="{FF2B5EF4-FFF2-40B4-BE49-F238E27FC236}">
                <a16:creationId xmlns:a16="http://schemas.microsoft.com/office/drawing/2014/main" id="{9FF53517-E553-EC6A-2FAF-C9435A9EF4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46785" y="5447364"/>
            <a:ext cx="2465439" cy="1333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WMATA Logo">
            <a:extLst>
              <a:ext uri="{FF2B5EF4-FFF2-40B4-BE49-F238E27FC236}">
                <a16:creationId xmlns:a16="http://schemas.microsoft.com/office/drawing/2014/main" id="{0896B77C-904C-95DF-F29C-0B7BAE06D4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87856" y="83855"/>
            <a:ext cx="649408" cy="8309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7689428-8929-8F57-E316-5DD05555E1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84484" y="1082561"/>
            <a:ext cx="6947583" cy="5217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56797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0ED53B-4F95-483E-D142-4730B7F23A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19A8278-576B-3A9E-9BA6-99072C60B47F}"/>
              </a:ext>
            </a:extLst>
          </p:cNvPr>
          <p:cNvSpPr/>
          <p:nvPr/>
        </p:nvSpPr>
        <p:spPr>
          <a:xfrm>
            <a:off x="-51030" y="1"/>
            <a:ext cx="12243030" cy="998706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001B0B0-B0DA-6479-C869-FE26525F72BF}"/>
              </a:ext>
            </a:extLst>
          </p:cNvPr>
          <p:cNvSpPr txBox="1"/>
          <p:nvPr/>
        </p:nvSpPr>
        <p:spPr>
          <a:xfrm>
            <a:off x="-1057370" y="71067"/>
            <a:ext cx="95627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chemeClr val="bg1"/>
                </a:solidFill>
              </a:rPr>
              <a:t>Effect of Historical Dates</a:t>
            </a:r>
          </a:p>
        </p:txBody>
      </p:sp>
      <p:pic>
        <p:nvPicPr>
          <p:cNvPr id="1028" name="Picture 4" descr="Pink Cherry Blossom Flower - Free Clip Art">
            <a:extLst>
              <a:ext uri="{FF2B5EF4-FFF2-40B4-BE49-F238E27FC236}">
                <a16:creationId xmlns:a16="http://schemas.microsoft.com/office/drawing/2014/main" id="{9474F57C-F9AE-EB86-9E8E-90F88937D5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370249"/>
            <a:ext cx="2104547" cy="14877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3d model wmata 7000 metro train">
            <a:extLst>
              <a:ext uri="{FF2B5EF4-FFF2-40B4-BE49-F238E27FC236}">
                <a16:creationId xmlns:a16="http://schemas.microsoft.com/office/drawing/2014/main" id="{11782854-7F03-CAB4-B556-318F5F3E84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46785" y="5447364"/>
            <a:ext cx="2465439" cy="1333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WMATA Logo">
            <a:extLst>
              <a:ext uri="{FF2B5EF4-FFF2-40B4-BE49-F238E27FC236}">
                <a16:creationId xmlns:a16="http://schemas.microsoft.com/office/drawing/2014/main" id="{9F5AA1D7-FD07-04BB-5ECA-16C05A3267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87856" y="83855"/>
            <a:ext cx="649408" cy="8309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D360786-8137-CCC6-51EE-6CD04AC85A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340934"/>
            <a:ext cx="12192000" cy="406660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202E42B-B673-0984-17B0-8016683E03F0}"/>
              </a:ext>
            </a:extLst>
          </p:cNvPr>
          <p:cNvSpPr txBox="1"/>
          <p:nvPr/>
        </p:nvSpPr>
        <p:spPr>
          <a:xfrm>
            <a:off x="5746331" y="1632977"/>
            <a:ext cx="27590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2017 Women's March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21200D0-6145-BA10-6BB0-377584A49458}"/>
              </a:ext>
            </a:extLst>
          </p:cNvPr>
          <p:cNvCxnSpPr/>
          <p:nvPr/>
        </p:nvCxnSpPr>
        <p:spPr>
          <a:xfrm flipH="1">
            <a:off x="5268686" y="1819124"/>
            <a:ext cx="43059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C741822-525E-0FE4-B6C9-C2DA2BED0952}"/>
              </a:ext>
            </a:extLst>
          </p:cNvPr>
          <p:cNvCxnSpPr/>
          <p:nvPr/>
        </p:nvCxnSpPr>
        <p:spPr>
          <a:xfrm flipV="1">
            <a:off x="7590971" y="4968724"/>
            <a:ext cx="256419" cy="54834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C65C3C39-F1C2-DDB5-0EA5-53AB6CC10E39}"/>
              </a:ext>
            </a:extLst>
          </p:cNvPr>
          <p:cNvSpPr txBox="1"/>
          <p:nvPr/>
        </p:nvSpPr>
        <p:spPr>
          <a:xfrm>
            <a:off x="6526590" y="5563810"/>
            <a:ext cx="11369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Covid-19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D7018AD-7F7E-29C5-ADF0-5713B2E5DE17}"/>
              </a:ext>
            </a:extLst>
          </p:cNvPr>
          <p:cNvSpPr txBox="1"/>
          <p:nvPr/>
        </p:nvSpPr>
        <p:spPr>
          <a:xfrm>
            <a:off x="4187789" y="5277636"/>
            <a:ext cx="2075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2016 DC Blizard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E8CF03F-89A9-174A-2B0B-E4269C2921F9}"/>
              </a:ext>
            </a:extLst>
          </p:cNvPr>
          <p:cNvSpPr txBox="1"/>
          <p:nvPr/>
        </p:nvSpPr>
        <p:spPr>
          <a:xfrm>
            <a:off x="1175657" y="5200952"/>
            <a:ext cx="29222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2012 Hurricane Sandy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7733CA8-8247-CA04-3271-2F1EF7603FA3}"/>
              </a:ext>
            </a:extLst>
          </p:cNvPr>
          <p:cNvCxnSpPr/>
          <p:nvPr/>
        </p:nvCxnSpPr>
        <p:spPr>
          <a:xfrm flipH="1" flipV="1">
            <a:off x="2002971" y="4905829"/>
            <a:ext cx="193524" cy="2709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9E58D6D-8577-84C6-3B04-EBC1F15DA183}"/>
              </a:ext>
            </a:extLst>
          </p:cNvPr>
          <p:cNvCxnSpPr/>
          <p:nvPr/>
        </p:nvCxnSpPr>
        <p:spPr>
          <a:xfrm flipH="1" flipV="1">
            <a:off x="4625219" y="4910667"/>
            <a:ext cx="377371" cy="2902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65142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6355C8-7802-6A9B-E816-A2E14253FC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94E5B04-1DD4-0947-0F2C-1B78BF1363A5}"/>
              </a:ext>
            </a:extLst>
          </p:cNvPr>
          <p:cNvSpPr/>
          <p:nvPr/>
        </p:nvSpPr>
        <p:spPr>
          <a:xfrm>
            <a:off x="-51030" y="1"/>
            <a:ext cx="12243030" cy="998706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5F75A9C-D878-E728-34D5-DC04BFE726D5}"/>
              </a:ext>
            </a:extLst>
          </p:cNvPr>
          <p:cNvSpPr txBox="1"/>
          <p:nvPr/>
        </p:nvSpPr>
        <p:spPr>
          <a:xfrm>
            <a:off x="-1057370" y="71067"/>
            <a:ext cx="95627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chemeClr val="bg1"/>
                </a:solidFill>
              </a:rPr>
              <a:t>Effect of Historical Dates</a:t>
            </a:r>
          </a:p>
        </p:txBody>
      </p:sp>
      <p:pic>
        <p:nvPicPr>
          <p:cNvPr id="1028" name="Picture 4" descr="Pink Cherry Blossom Flower - Free Clip Art">
            <a:extLst>
              <a:ext uri="{FF2B5EF4-FFF2-40B4-BE49-F238E27FC236}">
                <a16:creationId xmlns:a16="http://schemas.microsoft.com/office/drawing/2014/main" id="{05BC9946-DE46-AAB7-2CA2-0551D47AF0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370249"/>
            <a:ext cx="2104547" cy="14877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3d model wmata 7000 metro train">
            <a:extLst>
              <a:ext uri="{FF2B5EF4-FFF2-40B4-BE49-F238E27FC236}">
                <a16:creationId xmlns:a16="http://schemas.microsoft.com/office/drawing/2014/main" id="{39E4889A-421B-570A-A2DC-B1475F3A44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46785" y="5447364"/>
            <a:ext cx="2465439" cy="1333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WMATA Logo">
            <a:extLst>
              <a:ext uri="{FF2B5EF4-FFF2-40B4-BE49-F238E27FC236}">
                <a16:creationId xmlns:a16="http://schemas.microsoft.com/office/drawing/2014/main" id="{149C64D4-982D-B34B-791A-DD65ABD153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87856" y="83855"/>
            <a:ext cx="649408" cy="8309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B8A6CF4-307C-CA3B-9E4E-F646E19B01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690285"/>
            <a:ext cx="12192000" cy="3065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45910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551465-05A5-F43D-EA7A-C48DB4FD8B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5E19E73-42E1-4A38-0A08-A970C731CA37}"/>
              </a:ext>
            </a:extLst>
          </p:cNvPr>
          <p:cNvSpPr/>
          <p:nvPr/>
        </p:nvSpPr>
        <p:spPr>
          <a:xfrm>
            <a:off x="-51030" y="1"/>
            <a:ext cx="12243030" cy="998706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42B9E70-9A01-0ACB-E0C5-56AB69585723}"/>
              </a:ext>
            </a:extLst>
          </p:cNvPr>
          <p:cNvSpPr txBox="1"/>
          <p:nvPr/>
        </p:nvSpPr>
        <p:spPr>
          <a:xfrm>
            <a:off x="-373531" y="83855"/>
            <a:ext cx="95627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chemeClr val="bg1"/>
                </a:solidFill>
              </a:rPr>
              <a:t>Ridership by Station 2012-2025</a:t>
            </a:r>
          </a:p>
        </p:txBody>
      </p:sp>
      <p:pic>
        <p:nvPicPr>
          <p:cNvPr id="1032" name="Picture 8" descr="WMATA Logo">
            <a:extLst>
              <a:ext uri="{FF2B5EF4-FFF2-40B4-BE49-F238E27FC236}">
                <a16:creationId xmlns:a16="http://schemas.microsoft.com/office/drawing/2014/main" id="{BC7341E8-DCF0-1F12-2B87-4670E9E3F6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87856" y="83855"/>
            <a:ext cx="649408" cy="8309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1C00596-4D7C-E6B1-76E6-8616538CC9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34368"/>
            <a:ext cx="12286969" cy="4943645"/>
          </a:xfrm>
          <a:prstGeom prst="rect">
            <a:avLst/>
          </a:prstGeom>
        </p:spPr>
      </p:pic>
      <p:pic>
        <p:nvPicPr>
          <p:cNvPr id="1028" name="Picture 4" descr="Pink Cherry Blossom Flower - Free Clip Art">
            <a:extLst>
              <a:ext uri="{FF2B5EF4-FFF2-40B4-BE49-F238E27FC236}">
                <a16:creationId xmlns:a16="http://schemas.microsoft.com/office/drawing/2014/main" id="{9EC213AB-4274-6C55-50A4-CE531C29DA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370249"/>
            <a:ext cx="2104547" cy="14877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3d model wmata 7000 metro train">
            <a:extLst>
              <a:ext uri="{FF2B5EF4-FFF2-40B4-BE49-F238E27FC236}">
                <a16:creationId xmlns:a16="http://schemas.microsoft.com/office/drawing/2014/main" id="{4E5DADB2-6600-7DA6-3F31-38DFE978BD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46785" y="5447364"/>
            <a:ext cx="2465439" cy="1333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965207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21568F-2E26-91A9-A378-DEED5A857A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C10C83F-6FDF-F8CF-FC0A-13633C2FAAA4}"/>
              </a:ext>
            </a:extLst>
          </p:cNvPr>
          <p:cNvSpPr/>
          <p:nvPr/>
        </p:nvSpPr>
        <p:spPr>
          <a:xfrm>
            <a:off x="-51030" y="1"/>
            <a:ext cx="12243030" cy="998706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F866C8E-65B7-BDB2-9DD8-DB557C96E82B}"/>
              </a:ext>
            </a:extLst>
          </p:cNvPr>
          <p:cNvSpPr txBox="1"/>
          <p:nvPr/>
        </p:nvSpPr>
        <p:spPr>
          <a:xfrm>
            <a:off x="-509694" y="94359"/>
            <a:ext cx="112523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chemeClr val="bg1"/>
                </a:solidFill>
              </a:rPr>
              <a:t>Busy stations vs Commuter Stations</a:t>
            </a:r>
          </a:p>
        </p:txBody>
      </p:sp>
      <p:pic>
        <p:nvPicPr>
          <p:cNvPr id="1028" name="Picture 4" descr="Pink Cherry Blossom Flower - Free Clip Art">
            <a:extLst>
              <a:ext uri="{FF2B5EF4-FFF2-40B4-BE49-F238E27FC236}">
                <a16:creationId xmlns:a16="http://schemas.microsoft.com/office/drawing/2014/main" id="{A6E63A2A-CC6C-731C-EF73-782B0CC62D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370249"/>
            <a:ext cx="2104547" cy="14877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3d model wmata 7000 metro train">
            <a:extLst>
              <a:ext uri="{FF2B5EF4-FFF2-40B4-BE49-F238E27FC236}">
                <a16:creationId xmlns:a16="http://schemas.microsoft.com/office/drawing/2014/main" id="{51B16DF6-730B-8DE4-74B4-561D2D01A7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1008" y="5524479"/>
            <a:ext cx="2465439" cy="1333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WMATA Logo">
            <a:extLst>
              <a:ext uri="{FF2B5EF4-FFF2-40B4-BE49-F238E27FC236}">
                <a16:creationId xmlns:a16="http://schemas.microsoft.com/office/drawing/2014/main" id="{5D1E006E-9935-4265-6259-3617AB0717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87856" y="83855"/>
            <a:ext cx="649408" cy="8309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99F702C-89BC-2B69-5E50-8D04CD89D0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86739" y="998707"/>
            <a:ext cx="8932352" cy="5586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14607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0A2C37-428F-8ECB-42D7-1B738CDB88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0FCACA2-A485-5B28-4E4D-6443DFE7DC93}"/>
              </a:ext>
            </a:extLst>
          </p:cNvPr>
          <p:cNvSpPr/>
          <p:nvPr/>
        </p:nvSpPr>
        <p:spPr>
          <a:xfrm>
            <a:off x="-51030" y="1"/>
            <a:ext cx="12243030" cy="998706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29FBACB-989F-91C7-E3F7-E9FB99A94B36}"/>
              </a:ext>
            </a:extLst>
          </p:cNvPr>
          <p:cNvSpPr txBox="1"/>
          <p:nvPr/>
        </p:nvSpPr>
        <p:spPr>
          <a:xfrm>
            <a:off x="-509694" y="94359"/>
            <a:ext cx="112523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chemeClr val="bg1"/>
                </a:solidFill>
              </a:rPr>
              <a:t>Percent of Fare Evasion 2023-2025</a:t>
            </a:r>
          </a:p>
        </p:txBody>
      </p:sp>
      <p:pic>
        <p:nvPicPr>
          <p:cNvPr id="1028" name="Picture 4" descr="Pink Cherry Blossom Flower - Free Clip Art">
            <a:extLst>
              <a:ext uri="{FF2B5EF4-FFF2-40B4-BE49-F238E27FC236}">
                <a16:creationId xmlns:a16="http://schemas.microsoft.com/office/drawing/2014/main" id="{55298E53-4BC2-3D3D-D9A3-5A35903734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370249"/>
            <a:ext cx="2104547" cy="14877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3d model wmata 7000 metro train">
            <a:extLst>
              <a:ext uri="{FF2B5EF4-FFF2-40B4-BE49-F238E27FC236}">
                <a16:creationId xmlns:a16="http://schemas.microsoft.com/office/drawing/2014/main" id="{58E38B38-46F8-DFBE-0461-28776ABD0A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1008" y="5524479"/>
            <a:ext cx="2465439" cy="1333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WMATA Logo">
            <a:extLst>
              <a:ext uri="{FF2B5EF4-FFF2-40B4-BE49-F238E27FC236}">
                <a16:creationId xmlns:a16="http://schemas.microsoft.com/office/drawing/2014/main" id="{2F3AB92F-E8CA-3DCE-1AEB-7A479EE91B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87856" y="83855"/>
            <a:ext cx="649408" cy="8309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1ED623B-B800-4E89-554F-47BA8D49A4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47" y="1420854"/>
            <a:ext cx="12192000" cy="410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81399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3BC7FA-8D20-D5BD-A504-146A5EC1F4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3CC9D87-C9F6-B296-891F-EF54EC9AAB2C}"/>
              </a:ext>
            </a:extLst>
          </p:cNvPr>
          <p:cNvSpPr/>
          <p:nvPr/>
        </p:nvSpPr>
        <p:spPr>
          <a:xfrm>
            <a:off x="-51030" y="1"/>
            <a:ext cx="12243030" cy="998706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B455363-665F-7F9B-DEAC-3548426B53C7}"/>
              </a:ext>
            </a:extLst>
          </p:cNvPr>
          <p:cNvSpPr txBox="1"/>
          <p:nvPr/>
        </p:nvSpPr>
        <p:spPr>
          <a:xfrm>
            <a:off x="-509694" y="94359"/>
            <a:ext cx="112523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bg1"/>
                </a:solidFill>
              </a:rPr>
              <a:t>Sporting Events Effects on Metro Ridership</a:t>
            </a:r>
          </a:p>
        </p:txBody>
      </p:sp>
      <p:pic>
        <p:nvPicPr>
          <p:cNvPr id="1028" name="Picture 4" descr="Pink Cherry Blossom Flower - Free Clip Art">
            <a:extLst>
              <a:ext uri="{FF2B5EF4-FFF2-40B4-BE49-F238E27FC236}">
                <a16:creationId xmlns:a16="http://schemas.microsoft.com/office/drawing/2014/main" id="{BCF6192B-D889-7CA4-B0A8-042EFC39F8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370249"/>
            <a:ext cx="2104547" cy="14877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3d model wmata 7000 metro train">
            <a:extLst>
              <a:ext uri="{FF2B5EF4-FFF2-40B4-BE49-F238E27FC236}">
                <a16:creationId xmlns:a16="http://schemas.microsoft.com/office/drawing/2014/main" id="{A1657956-BB2D-9311-A549-F3F4C804F7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1008" y="5524479"/>
            <a:ext cx="2465439" cy="1333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WMATA Logo">
            <a:extLst>
              <a:ext uri="{FF2B5EF4-FFF2-40B4-BE49-F238E27FC236}">
                <a16:creationId xmlns:a16="http://schemas.microsoft.com/office/drawing/2014/main" id="{02030C77-35CA-9898-9763-BEF273AE8B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87856" y="83855"/>
            <a:ext cx="649408" cy="8309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F4FE4FD-73EA-A6B2-3ACD-C66A1ECF94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3502" y="2225711"/>
            <a:ext cx="5867636" cy="221788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E877052-0B72-D1F3-A189-E5D4C8CA517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60864" y="1650259"/>
            <a:ext cx="5748938" cy="3460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50079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93BCA1-4AB1-CDC1-C701-4160E2A2C9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AB38713-FFC1-4AAD-7DC0-AD7AC3EB61C2}"/>
              </a:ext>
            </a:extLst>
          </p:cNvPr>
          <p:cNvSpPr/>
          <p:nvPr/>
        </p:nvSpPr>
        <p:spPr>
          <a:xfrm>
            <a:off x="-51030" y="1"/>
            <a:ext cx="12243030" cy="998706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C0CFF8E-76C8-8E10-91F9-975F7FA5C5E9}"/>
              </a:ext>
            </a:extLst>
          </p:cNvPr>
          <p:cNvSpPr txBox="1"/>
          <p:nvPr/>
        </p:nvSpPr>
        <p:spPr>
          <a:xfrm>
            <a:off x="-509694" y="94359"/>
            <a:ext cx="112523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chemeClr val="bg1"/>
                </a:solidFill>
              </a:rPr>
              <a:t>Percent of Fare Evasion 2023-2025</a:t>
            </a:r>
          </a:p>
        </p:txBody>
      </p:sp>
      <p:pic>
        <p:nvPicPr>
          <p:cNvPr id="1032" name="Picture 8" descr="WMATA Logo">
            <a:extLst>
              <a:ext uri="{FF2B5EF4-FFF2-40B4-BE49-F238E27FC236}">
                <a16:creationId xmlns:a16="http://schemas.microsoft.com/office/drawing/2014/main" id="{6150BA78-8FD2-1B85-9D7E-BAF87E33E5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87856" y="83855"/>
            <a:ext cx="649408" cy="8309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6028A4E-47F9-7DD1-C64A-4915F5F872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789" y="1093065"/>
            <a:ext cx="10188388" cy="414496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E352FF4-06EE-7796-62E7-B3765CC787B8}"/>
              </a:ext>
            </a:extLst>
          </p:cNvPr>
          <p:cNvSpPr txBox="1"/>
          <p:nvPr/>
        </p:nvSpPr>
        <p:spPr>
          <a:xfrm>
            <a:off x="1125071" y="5455024"/>
            <a:ext cx="458544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Gallery Place</a:t>
            </a:r>
            <a:r>
              <a:rPr lang="en-US" dirty="0"/>
              <a:t>:  Capital One Arena</a:t>
            </a:r>
          </a:p>
          <a:p>
            <a:r>
              <a:rPr lang="en-US" b="1" dirty="0"/>
              <a:t>U Street</a:t>
            </a:r>
            <a:r>
              <a:rPr lang="en-US" dirty="0"/>
              <a:t>:             Popular bar spot in DC</a:t>
            </a:r>
          </a:p>
          <a:p>
            <a:r>
              <a:rPr lang="en-US" b="1" dirty="0"/>
              <a:t>Dupont Circle</a:t>
            </a:r>
            <a:r>
              <a:rPr lang="en-US" dirty="0"/>
              <a:t>: Popular bar spot in DC</a:t>
            </a:r>
          </a:p>
          <a:p>
            <a:r>
              <a:rPr lang="en-US" b="1" dirty="0"/>
              <a:t>Clarendon</a:t>
            </a:r>
            <a:r>
              <a:rPr lang="en-US" dirty="0"/>
              <a:t>:        Popular bar spot in Arlington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69937F7-8CF0-D427-5945-529049A8719D}"/>
              </a:ext>
            </a:extLst>
          </p:cNvPr>
          <p:cNvSpPr txBox="1"/>
          <p:nvPr/>
        </p:nvSpPr>
        <p:spPr>
          <a:xfrm>
            <a:off x="6096000" y="5374342"/>
            <a:ext cx="604126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Shady Grove</a:t>
            </a:r>
            <a:r>
              <a:rPr lang="en-US" dirty="0"/>
              <a:t>:    End of Red Line and massive parking lot</a:t>
            </a:r>
          </a:p>
          <a:p>
            <a:r>
              <a:rPr lang="en-US" b="1" dirty="0"/>
              <a:t>Silvar Spring</a:t>
            </a:r>
            <a:r>
              <a:rPr lang="en-US" dirty="0"/>
              <a:t>:    Massive parking lot</a:t>
            </a:r>
          </a:p>
          <a:p>
            <a:r>
              <a:rPr lang="en-US" b="1" dirty="0"/>
              <a:t>Vienna</a:t>
            </a:r>
            <a:r>
              <a:rPr lang="en-US" dirty="0"/>
              <a:t>:                 End of Orange Line w/ massive parking lot</a:t>
            </a:r>
          </a:p>
          <a:p>
            <a:r>
              <a:rPr lang="en-US" b="1" dirty="0"/>
              <a:t>Fort Totten</a:t>
            </a:r>
            <a:r>
              <a:rPr lang="en-US" dirty="0"/>
              <a:t>:        One of the few parking lot metros in dc and at the connection of 3 lines</a:t>
            </a:r>
          </a:p>
        </p:txBody>
      </p:sp>
    </p:spTree>
    <p:extLst>
      <p:ext uri="{BB962C8B-B14F-4D97-AF65-F5344CB8AC3E}">
        <p14:creationId xmlns:p14="http://schemas.microsoft.com/office/powerpoint/2010/main" val="38392566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2AA84D-6876-1F2A-3989-19E02D69C5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0E8B919-55CE-6926-F31B-D92792B7BFA8}"/>
              </a:ext>
            </a:extLst>
          </p:cNvPr>
          <p:cNvSpPr/>
          <p:nvPr/>
        </p:nvSpPr>
        <p:spPr>
          <a:xfrm>
            <a:off x="-51030" y="1"/>
            <a:ext cx="12243030" cy="998706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152AE28-C960-B73A-34EF-4B3AEB7A59CC}"/>
              </a:ext>
            </a:extLst>
          </p:cNvPr>
          <p:cNvSpPr txBox="1"/>
          <p:nvPr/>
        </p:nvSpPr>
        <p:spPr>
          <a:xfrm>
            <a:off x="-509694" y="94359"/>
            <a:ext cx="112523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chemeClr val="bg1"/>
                </a:solidFill>
              </a:rPr>
              <a:t>Busy stations vs Commuter Stations</a:t>
            </a:r>
          </a:p>
        </p:txBody>
      </p:sp>
      <p:pic>
        <p:nvPicPr>
          <p:cNvPr id="1032" name="Picture 8" descr="WMATA Logo">
            <a:extLst>
              <a:ext uri="{FF2B5EF4-FFF2-40B4-BE49-F238E27FC236}">
                <a16:creationId xmlns:a16="http://schemas.microsoft.com/office/drawing/2014/main" id="{B05CFAFE-6000-9C35-CBD9-4D25CA1C72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87856" y="83855"/>
            <a:ext cx="649408" cy="8309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EF32114-68AB-87FD-016A-9CABE7848E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365" y="954141"/>
            <a:ext cx="10668000" cy="5809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27032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1183</TotalTime>
  <Words>147</Words>
  <Application>Microsoft Office PowerPoint</Application>
  <PresentationFormat>Widescreen</PresentationFormat>
  <Paragraphs>26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Dodd, Rayden</dc:creator>
  <cp:lastModifiedBy>Dodd, Rayden</cp:lastModifiedBy>
  <cp:revision>2</cp:revision>
  <dcterms:created xsi:type="dcterms:W3CDTF">2025-06-17T00:34:28Z</dcterms:created>
  <dcterms:modified xsi:type="dcterms:W3CDTF">2025-07-08T00:43:49Z</dcterms:modified>
</cp:coreProperties>
</file>